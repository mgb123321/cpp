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ABE705-AB94-461B-9130-80A392A51358}" v="1368" dt="2022-04-18T03:02:15.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betsol.com/blog/7-stages-of-sdlc-how-to-keep-development-teams-running/" TargetMode="External"/><Relationship Id="rId2" Type="http://schemas.openxmlformats.org/officeDocument/2006/relationships/hyperlink" Target="https://www.aipm.com.au/blog/agile-vs-waterfall-whats-the-difference#:~:text=The%20important%20thing%20to%20remember,that%20is%20sequential%20in%20natu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Scum-Agile or Waterfall</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By: Mayson G. Barrington</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2F97-400D-7354-748A-C0AFBBD16D13}"/>
              </a:ext>
            </a:extLst>
          </p:cNvPr>
          <p:cNvSpPr>
            <a:spLocks noGrp="1"/>
          </p:cNvSpPr>
          <p:nvPr>
            <p:ph type="title"/>
          </p:nvPr>
        </p:nvSpPr>
        <p:spPr/>
        <p:txBody>
          <a:bodyPr/>
          <a:lstStyle/>
          <a:p>
            <a:r>
              <a:rPr lang="en-US" dirty="0">
                <a:cs typeface="Calibri Light"/>
              </a:rPr>
              <a:t>Scum-Agile Team Roles</a:t>
            </a:r>
            <a:endParaRPr lang="en-US" dirty="0"/>
          </a:p>
        </p:txBody>
      </p:sp>
      <p:sp>
        <p:nvSpPr>
          <p:cNvPr id="3" name="Content Placeholder 2">
            <a:extLst>
              <a:ext uri="{FF2B5EF4-FFF2-40B4-BE49-F238E27FC236}">
                <a16:creationId xmlns:a16="http://schemas.microsoft.com/office/drawing/2014/main" id="{3537F657-DEAA-DFD4-4352-D1BE3A884E13}"/>
              </a:ext>
            </a:extLst>
          </p:cNvPr>
          <p:cNvSpPr>
            <a:spLocks noGrp="1"/>
          </p:cNvSpPr>
          <p:nvPr>
            <p:ph idx="1"/>
          </p:nvPr>
        </p:nvSpPr>
        <p:spPr/>
        <p:txBody>
          <a:bodyPr vert="horz" lIns="91440" tIns="45720" rIns="91440" bIns="45720" rtlCol="0" anchor="t">
            <a:normAutofit/>
          </a:bodyPr>
          <a:lstStyle/>
          <a:p>
            <a:r>
              <a:rPr lang="en-US" dirty="0">
                <a:cs typeface="Calibri"/>
              </a:rPr>
              <a:t>1 Product Owner: The Link between the Scrum master and the customer, manages direction of product and scrum backlog</a:t>
            </a:r>
          </a:p>
          <a:p>
            <a:r>
              <a:rPr lang="en-US" dirty="0">
                <a:cs typeface="Calibri"/>
              </a:rPr>
              <a:t>2 Scrum Master: A "servant leader" and a key point in organizing scrums as well as helping the product owner understand the backlog and the work needing to be done.</a:t>
            </a:r>
          </a:p>
          <a:p>
            <a:r>
              <a:rPr lang="en-US" dirty="0">
                <a:cs typeface="Calibri"/>
              </a:rPr>
              <a:t>3 Development Team: The backbone of the entire process, uses the backlog and user stories to develop applications for the customer.</a:t>
            </a:r>
          </a:p>
        </p:txBody>
      </p:sp>
    </p:spTree>
    <p:extLst>
      <p:ext uri="{BB962C8B-B14F-4D97-AF65-F5344CB8AC3E}">
        <p14:creationId xmlns:p14="http://schemas.microsoft.com/office/powerpoint/2010/main" val="115703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9CCC-7B47-9962-B9D5-2EEED8C6D79A}"/>
              </a:ext>
            </a:extLst>
          </p:cNvPr>
          <p:cNvSpPr>
            <a:spLocks noGrp="1"/>
          </p:cNvSpPr>
          <p:nvPr>
            <p:ph type="title"/>
          </p:nvPr>
        </p:nvSpPr>
        <p:spPr/>
        <p:txBody>
          <a:bodyPr/>
          <a:lstStyle/>
          <a:p>
            <a:r>
              <a:rPr lang="en-US" dirty="0">
                <a:cs typeface="Calibri Light"/>
              </a:rPr>
              <a:t>The Seven SDLC Stages</a:t>
            </a:r>
            <a:endParaRPr lang="en-US" dirty="0"/>
          </a:p>
        </p:txBody>
      </p:sp>
      <p:sp>
        <p:nvSpPr>
          <p:cNvPr id="3" name="Content Placeholder 2">
            <a:extLst>
              <a:ext uri="{FF2B5EF4-FFF2-40B4-BE49-F238E27FC236}">
                <a16:creationId xmlns:a16="http://schemas.microsoft.com/office/drawing/2014/main" id="{C4758B31-5A9A-2845-BEBF-0A29DCBD9D86}"/>
              </a:ext>
            </a:extLst>
          </p:cNvPr>
          <p:cNvSpPr>
            <a:spLocks noGrp="1"/>
          </p:cNvSpPr>
          <p:nvPr>
            <p:ph idx="1"/>
          </p:nvPr>
        </p:nvSpPr>
        <p:spPr>
          <a:xfrm>
            <a:off x="838200" y="1825625"/>
            <a:ext cx="10515600" cy="5033127"/>
          </a:xfrm>
        </p:spPr>
        <p:txBody>
          <a:bodyPr vert="horz" lIns="91440" tIns="45720" rIns="91440" bIns="45720" rtlCol="0" anchor="t">
            <a:normAutofit/>
          </a:bodyPr>
          <a:lstStyle/>
          <a:p>
            <a:r>
              <a:rPr lang="en-US" dirty="0">
                <a:cs typeface="Calibri"/>
              </a:rPr>
              <a:t>1 Planning : Developing a plan for the project, estimating time costs and requirements</a:t>
            </a:r>
          </a:p>
          <a:p>
            <a:r>
              <a:rPr lang="en-US" dirty="0">
                <a:cs typeface="Calibri"/>
              </a:rPr>
              <a:t>2 Analysis : Meeting with the customer to develop user stories and plan the features of the product.</a:t>
            </a:r>
          </a:p>
          <a:p>
            <a:r>
              <a:rPr lang="en-US" dirty="0">
                <a:cs typeface="Calibri"/>
              </a:rPr>
              <a:t>3 Design : creating the framework for the code of the product, Scrum meetings begin, once the initial design is complete it is taken for review.</a:t>
            </a:r>
          </a:p>
          <a:p>
            <a:r>
              <a:rPr lang="en-US" dirty="0">
                <a:cs typeface="Calibri"/>
              </a:rPr>
              <a:t>4 Implementation : Tasks are divided and assigned to teams then code is developed for the product </a:t>
            </a:r>
          </a:p>
          <a:p>
            <a:r>
              <a:rPr lang="en-US" dirty="0">
                <a:cs typeface="Calibri"/>
              </a:rPr>
              <a:t>5 Testing : Pieces of the code or the whole code is sent to a testing team to ensure no bugs are present at the time</a:t>
            </a:r>
          </a:p>
        </p:txBody>
      </p:sp>
    </p:spTree>
    <p:extLst>
      <p:ext uri="{BB962C8B-B14F-4D97-AF65-F5344CB8AC3E}">
        <p14:creationId xmlns:p14="http://schemas.microsoft.com/office/powerpoint/2010/main" val="252981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D130F-397D-E118-CF7E-E6B0CB4CA410}"/>
              </a:ext>
            </a:extLst>
          </p:cNvPr>
          <p:cNvSpPr>
            <a:spLocks noGrp="1"/>
          </p:cNvSpPr>
          <p:nvPr>
            <p:ph type="title"/>
          </p:nvPr>
        </p:nvSpPr>
        <p:spPr/>
        <p:txBody>
          <a:bodyPr/>
          <a:lstStyle/>
          <a:p>
            <a:r>
              <a:rPr lang="en-US" dirty="0">
                <a:ea typeface="+mj-lt"/>
                <a:cs typeface="+mj-lt"/>
              </a:rPr>
              <a:t>The Seven SDLC Stages</a:t>
            </a:r>
          </a:p>
          <a:p>
            <a:r>
              <a:rPr lang="en-US" dirty="0">
                <a:cs typeface="Calibri Light"/>
              </a:rPr>
              <a:t>(cont.)</a:t>
            </a:r>
          </a:p>
        </p:txBody>
      </p:sp>
      <p:sp>
        <p:nvSpPr>
          <p:cNvPr id="3" name="Content Placeholder 2">
            <a:extLst>
              <a:ext uri="{FF2B5EF4-FFF2-40B4-BE49-F238E27FC236}">
                <a16:creationId xmlns:a16="http://schemas.microsoft.com/office/drawing/2014/main" id="{7242C5AA-BA58-A7B1-D1BC-C77746AE5E6A}"/>
              </a:ext>
            </a:extLst>
          </p:cNvPr>
          <p:cNvSpPr>
            <a:spLocks noGrp="1"/>
          </p:cNvSpPr>
          <p:nvPr>
            <p:ph idx="1"/>
          </p:nvPr>
        </p:nvSpPr>
        <p:spPr/>
        <p:txBody>
          <a:bodyPr vert="horz" lIns="91440" tIns="45720" rIns="91440" bIns="45720" rtlCol="0" anchor="t">
            <a:normAutofit/>
          </a:bodyPr>
          <a:lstStyle/>
          <a:p>
            <a:r>
              <a:rPr lang="en-US" dirty="0">
                <a:cs typeface="Calibri"/>
              </a:rPr>
              <a:t>6 Deployment : the initial release of the product to customers, some testing is applied for last minute bugs.</a:t>
            </a:r>
          </a:p>
          <a:p>
            <a:r>
              <a:rPr lang="en-US" dirty="0">
                <a:cs typeface="Calibri"/>
              </a:rPr>
              <a:t>7 Maintenace : Mainly just hotfixes and patches as they come up from customers.</a:t>
            </a:r>
          </a:p>
          <a:p>
            <a:pPr marL="0" indent="0">
              <a:buNone/>
            </a:pPr>
            <a:r>
              <a:rPr lang="en-US" dirty="0">
                <a:cs typeface="Calibri"/>
              </a:rPr>
              <a:t>As you can see this cycle is very similar to waterfall, the only difference being is agile loops back at deployment to development during every major milestone in the project to ensure that the direction and the parts created so far function correctly, there is also one extra step in these loops where you review the progress so far and  plan your next step based on what went right or wrong last time.</a:t>
            </a:r>
          </a:p>
        </p:txBody>
      </p:sp>
    </p:spTree>
    <p:extLst>
      <p:ext uri="{BB962C8B-B14F-4D97-AF65-F5344CB8AC3E}">
        <p14:creationId xmlns:p14="http://schemas.microsoft.com/office/powerpoint/2010/main" val="427974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FC9FE-36AF-4DE9-8515-8855C9917AF8}"/>
              </a:ext>
            </a:extLst>
          </p:cNvPr>
          <p:cNvSpPr>
            <a:spLocks noGrp="1"/>
          </p:cNvSpPr>
          <p:nvPr>
            <p:ph type="title"/>
          </p:nvPr>
        </p:nvSpPr>
        <p:spPr/>
        <p:txBody>
          <a:bodyPr/>
          <a:lstStyle/>
          <a:p>
            <a:r>
              <a:rPr lang="en-US" dirty="0">
                <a:cs typeface="Calibri Light"/>
              </a:rPr>
              <a:t>Scrum-Agile vs Waterfall </a:t>
            </a:r>
            <a:endParaRPr lang="en-US" dirty="0"/>
          </a:p>
        </p:txBody>
      </p:sp>
      <p:sp>
        <p:nvSpPr>
          <p:cNvPr id="3" name="Content Placeholder 2">
            <a:extLst>
              <a:ext uri="{FF2B5EF4-FFF2-40B4-BE49-F238E27FC236}">
                <a16:creationId xmlns:a16="http://schemas.microsoft.com/office/drawing/2014/main" id="{A9034681-4C93-EA45-EFC1-0E2DBD7103B7}"/>
              </a:ext>
            </a:extLst>
          </p:cNvPr>
          <p:cNvSpPr>
            <a:spLocks noGrp="1"/>
          </p:cNvSpPr>
          <p:nvPr>
            <p:ph idx="1"/>
          </p:nvPr>
        </p:nvSpPr>
        <p:spPr/>
        <p:txBody>
          <a:bodyPr vert="horz" lIns="91440" tIns="45720" rIns="91440" bIns="45720" rtlCol="0" anchor="t">
            <a:normAutofit/>
          </a:bodyPr>
          <a:lstStyle/>
          <a:p>
            <a:r>
              <a:rPr lang="en-US" dirty="0">
                <a:cs typeface="Calibri"/>
              </a:rPr>
              <a:t>Waterfall is very straightforward with sequential steps while this is much more streamlined it also adds room for error when requirements change, for example, in our project we used the agile method and we had a direction change from the customer in the middle of the project, using agile this was barely a tumble in the cycle, we simply changed user stories and tweaked some code. With the waterfall approach we would have had to scrap our entire project up to some point where the change would affect then redo everything after that point.</a:t>
            </a:r>
            <a:endParaRPr lang="en-US" dirty="0"/>
          </a:p>
        </p:txBody>
      </p:sp>
    </p:spTree>
    <p:extLst>
      <p:ext uri="{BB962C8B-B14F-4D97-AF65-F5344CB8AC3E}">
        <p14:creationId xmlns:p14="http://schemas.microsoft.com/office/powerpoint/2010/main" val="388136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EBB7-FC90-6010-B111-75D66529ABBA}"/>
              </a:ext>
            </a:extLst>
          </p:cNvPr>
          <p:cNvSpPr>
            <a:spLocks noGrp="1"/>
          </p:cNvSpPr>
          <p:nvPr>
            <p:ph type="title"/>
          </p:nvPr>
        </p:nvSpPr>
        <p:spPr/>
        <p:txBody>
          <a:bodyPr/>
          <a:lstStyle/>
          <a:p>
            <a:r>
              <a:rPr lang="en-US" dirty="0">
                <a:cs typeface="Calibri Light"/>
              </a:rPr>
              <a:t>Which Method to Choose?</a:t>
            </a:r>
            <a:endParaRPr lang="en-US" dirty="0"/>
          </a:p>
        </p:txBody>
      </p:sp>
      <p:sp>
        <p:nvSpPr>
          <p:cNvPr id="3" name="Content Placeholder 2">
            <a:extLst>
              <a:ext uri="{FF2B5EF4-FFF2-40B4-BE49-F238E27FC236}">
                <a16:creationId xmlns:a16="http://schemas.microsoft.com/office/drawing/2014/main" id="{63B4D0D3-898F-2102-4C55-E0B9FCA21AB5}"/>
              </a:ext>
            </a:extLst>
          </p:cNvPr>
          <p:cNvSpPr>
            <a:spLocks noGrp="1"/>
          </p:cNvSpPr>
          <p:nvPr>
            <p:ph idx="1"/>
          </p:nvPr>
        </p:nvSpPr>
        <p:spPr/>
        <p:txBody>
          <a:bodyPr vert="horz" lIns="91440" tIns="45720" rIns="91440" bIns="45720" rtlCol="0" anchor="t">
            <a:normAutofit/>
          </a:bodyPr>
          <a:lstStyle/>
          <a:p>
            <a:r>
              <a:rPr lang="en-US" dirty="0">
                <a:cs typeface="Calibri"/>
              </a:rPr>
              <a:t>Waterfall and agile are two very good methods to use, but they should be used depending on what the project requires, for example if there was a very simple project where it was already established the customer wants one thing and won't change requirements then waterfall would be more than adequate, like wise if you have a very small development team waterfall may be the easiest method to use to not stretch your team too thin, But for more complex projects or projects likely to change midway through suggestion or customer intervention, or even having multiple teams or a large force I would suggest Scrum- Agile.</a:t>
            </a:r>
            <a:endParaRPr lang="en-US" dirty="0"/>
          </a:p>
        </p:txBody>
      </p:sp>
    </p:spTree>
    <p:extLst>
      <p:ext uri="{BB962C8B-B14F-4D97-AF65-F5344CB8AC3E}">
        <p14:creationId xmlns:p14="http://schemas.microsoft.com/office/powerpoint/2010/main" val="3510464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B052-7147-CA4E-61A9-80AD603354B1}"/>
              </a:ext>
            </a:extLst>
          </p:cNvPr>
          <p:cNvSpPr>
            <a:spLocks noGrp="1"/>
          </p:cNvSpPr>
          <p:nvPr>
            <p:ph type="title"/>
          </p:nvPr>
        </p:nvSpPr>
        <p:spPr/>
        <p:txBody>
          <a:bodyPr/>
          <a:lstStyle/>
          <a:p>
            <a:r>
              <a:rPr lang="en-US" dirty="0">
                <a:cs typeface="Calibri Light"/>
              </a:rPr>
              <a:t>References</a:t>
            </a:r>
            <a:endParaRPr lang="en-US" dirty="0"/>
          </a:p>
        </p:txBody>
      </p:sp>
      <p:sp>
        <p:nvSpPr>
          <p:cNvPr id="3" name="Content Placeholder 2">
            <a:extLst>
              <a:ext uri="{FF2B5EF4-FFF2-40B4-BE49-F238E27FC236}">
                <a16:creationId xmlns:a16="http://schemas.microsoft.com/office/drawing/2014/main" id="{4C118881-D4FF-FC1D-31CE-6024D3BF584C}"/>
              </a:ext>
            </a:extLst>
          </p:cNvPr>
          <p:cNvSpPr>
            <a:spLocks noGrp="1"/>
          </p:cNvSpPr>
          <p:nvPr>
            <p:ph idx="1"/>
          </p:nvPr>
        </p:nvSpPr>
        <p:spPr/>
        <p:txBody>
          <a:bodyPr vert="horz" lIns="91440" tIns="45720" rIns="91440" bIns="45720" rtlCol="0" anchor="t">
            <a:normAutofit fontScale="77500" lnSpcReduction="20000"/>
          </a:bodyPr>
          <a:lstStyle/>
          <a:p>
            <a:r>
              <a:rPr lang="en-US" dirty="0">
                <a:ea typeface="+mn-lt"/>
                <a:cs typeface="+mn-lt"/>
              </a:rPr>
              <a:t>Australian Institute for Project Management. (2021, October 12). </a:t>
            </a:r>
            <a:r>
              <a:rPr lang="en-US" i="1" dirty="0">
                <a:ea typeface="+mn-lt"/>
                <a:cs typeface="+mn-lt"/>
              </a:rPr>
              <a:t>Agile vs waterfall: What's the difference?</a:t>
            </a:r>
            <a:r>
              <a:rPr lang="en-US" dirty="0">
                <a:ea typeface="+mn-lt"/>
                <a:cs typeface="+mn-lt"/>
              </a:rPr>
              <a:t> Agile vs Waterfall – What's the Difference? Retrieved April 17, 2022, from </a:t>
            </a:r>
            <a:r>
              <a:rPr lang="en-US" dirty="0">
                <a:ea typeface="+mn-lt"/>
                <a:cs typeface="+mn-lt"/>
                <a:hlinkClick r:id="rId2"/>
              </a:rPr>
              <a:t>https://www.aipm.com.au/blog/agile-vs-waterfall-whats-the-difference#:~:text=The%20important%20thing%20to%20remember,that%20is%20sequential%20in%20nature</a:t>
            </a:r>
            <a:r>
              <a:rPr lang="en-US" dirty="0">
                <a:ea typeface="+mn-lt"/>
                <a:cs typeface="+mn-lt"/>
              </a:rPr>
              <a:t>. </a:t>
            </a:r>
            <a:endParaRPr lang="en-US">
              <a:cs typeface="Calibri" panose="020F0502020204030204"/>
            </a:endParaRPr>
          </a:p>
          <a:p>
            <a:r>
              <a:rPr lang="en-US" dirty="0">
                <a:ea typeface="+mn-lt"/>
                <a:cs typeface="+mn-lt"/>
              </a:rPr>
              <a:t>Australian Institute for Project Management. (2021, October 12). </a:t>
            </a:r>
            <a:r>
              <a:rPr lang="en-US" i="1" dirty="0">
                <a:ea typeface="+mn-lt"/>
                <a:cs typeface="+mn-lt"/>
              </a:rPr>
              <a:t>Agile vs waterfall: What's the difference?</a:t>
            </a:r>
            <a:r>
              <a:rPr lang="en-US" dirty="0">
                <a:ea typeface="+mn-lt"/>
                <a:cs typeface="+mn-lt"/>
              </a:rPr>
              <a:t> Agile vs Waterfall – What's the Difference? Retrieved April 17, 2022, from </a:t>
            </a:r>
            <a:r>
              <a:rPr lang="en-US" dirty="0">
                <a:ea typeface="+mn-lt"/>
                <a:cs typeface="+mn-lt"/>
                <a:hlinkClick r:id="rId2"/>
              </a:rPr>
              <a:t>https://www.aipm.com.au/blog/agile-vs-waterfall-whats-the-difference#:~:text=The%20important%20thing%20to%20remember,that%20is%20sequential%20in%20nature</a:t>
            </a:r>
            <a:r>
              <a:rPr lang="en-US" dirty="0">
                <a:ea typeface="+mn-lt"/>
                <a:cs typeface="+mn-lt"/>
              </a:rPr>
              <a:t>. </a:t>
            </a:r>
            <a:endParaRPr lang="en-US" dirty="0">
              <a:cs typeface="Calibri"/>
            </a:endParaRPr>
          </a:p>
          <a:p>
            <a:r>
              <a:rPr lang="en-US" dirty="0" err="1">
                <a:ea typeface="+mn-lt"/>
                <a:cs typeface="+mn-lt"/>
              </a:rPr>
              <a:t>BetSol</a:t>
            </a:r>
            <a:r>
              <a:rPr lang="en-US" dirty="0">
                <a:ea typeface="+mn-lt"/>
                <a:cs typeface="+mn-lt"/>
              </a:rPr>
              <a:t>. (2021, October 1). </a:t>
            </a:r>
            <a:r>
              <a:rPr lang="en-US" i="1" dirty="0">
                <a:ea typeface="+mn-lt"/>
                <a:cs typeface="+mn-lt"/>
              </a:rPr>
              <a:t>7 stages of SDLC: 7 phases of SDLC Software Development Life cycle</a:t>
            </a:r>
            <a:r>
              <a:rPr lang="en-US" dirty="0">
                <a:ea typeface="+mn-lt"/>
                <a:cs typeface="+mn-lt"/>
              </a:rPr>
              <a:t>. BETSOL. Retrieved April 17, 2022, from </a:t>
            </a:r>
            <a:r>
              <a:rPr lang="en-US" dirty="0">
                <a:ea typeface="+mn-lt"/>
                <a:cs typeface="+mn-lt"/>
                <a:hlinkClick r:id="rId3"/>
              </a:rPr>
              <a:t>https://www.betsol.com/blog/7-stages-of-sdlc-how-to-keep-development-teams-running/</a:t>
            </a:r>
            <a:r>
              <a:rPr lang="en-US" dirty="0">
                <a:ea typeface="+mn-lt"/>
                <a:cs typeface="+mn-lt"/>
              </a:rPr>
              <a:t> </a:t>
            </a:r>
            <a:endParaRPr lang="en-US" dirty="0">
              <a:cs typeface="Calibri"/>
            </a:endParaRPr>
          </a:p>
          <a:p>
            <a:endParaRPr lang="en-US" dirty="0">
              <a:cs typeface="Calibri"/>
            </a:endParaRPr>
          </a:p>
        </p:txBody>
      </p:sp>
    </p:spTree>
    <p:extLst>
      <p:ext uri="{BB962C8B-B14F-4D97-AF65-F5344CB8AC3E}">
        <p14:creationId xmlns:p14="http://schemas.microsoft.com/office/powerpoint/2010/main" val="22796228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Scum-Agile or Waterfall</vt:lpstr>
      <vt:lpstr>Scum-Agile Team Roles</vt:lpstr>
      <vt:lpstr>The Seven SDLC Stages</vt:lpstr>
      <vt:lpstr>The Seven SDLC Stages (cont.)</vt:lpstr>
      <vt:lpstr>Scrum-Agile vs Waterfall </vt:lpstr>
      <vt:lpstr>Which Method to Choose?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227</cp:revision>
  <dcterms:created xsi:type="dcterms:W3CDTF">2022-04-18T01:49:03Z</dcterms:created>
  <dcterms:modified xsi:type="dcterms:W3CDTF">2022-04-18T03:02:17Z</dcterms:modified>
</cp:coreProperties>
</file>